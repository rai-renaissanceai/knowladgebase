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C6DBC2-8DA3-431C-85CE-F65BD0D06F39}">
  <a:tblStyle styleId="{30C6DBC2-8DA3-431C-85CE-F65BD0D06F3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da85b2fca_0_10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eda85b2fca_0_10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da85b2fca_62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eda85b2fca_62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da85b2fca_62_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eda85b2fca_62_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2396340" y="57780"/>
            <a:ext cx="4350960" cy="78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 rot="5400000">
            <a:off x="4623660" y="2285100"/>
            <a:ext cx="5811480" cy="197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622980" y="370620"/>
            <a:ext cx="5811480" cy="58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28560" y="1825560"/>
            <a:ext cx="38858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29240" y="1825560"/>
            <a:ext cx="38858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630000" y="365040"/>
            <a:ext cx="78865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630000" y="1681200"/>
            <a:ext cx="3867840" cy="823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630000" y="2505240"/>
            <a:ext cx="386784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29240" y="1681200"/>
            <a:ext cx="3886920" cy="823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4629240" y="2505240"/>
            <a:ext cx="388692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>
  <p:cSld name="Contenido con título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2"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ademics.gsb.columbia.edu/mba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ademics.gsb.columbia.edu/mba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cademics.gsb.columbia.edu/mba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cademics.gsb.columbia.edu/mba" TargetMode="External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cademics.gsb.columbia.edu/mba" TargetMode="External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110" l="0" r="0" t="110"/>
          <a:stretch/>
        </p:blipFill>
        <p:spPr>
          <a:xfrm>
            <a:off x="6477000" y="381000"/>
            <a:ext cx="21909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571500" y="1714500"/>
            <a:ext cx="8001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544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OFERTAS EDUCATIVAS</a:t>
            </a:r>
            <a:endParaRPr b="0" sz="544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MX" sz="3060">
                <a:solidFill>
                  <a:srgbClr val="D0B400"/>
                </a:solidFill>
                <a:latin typeface="Avenir"/>
                <a:ea typeface="Avenir"/>
                <a:cs typeface="Avenir"/>
                <a:sym typeface="Avenir"/>
              </a:rPr>
              <a:t>Caso MGL</a:t>
            </a:r>
            <a:endParaRPr b="0" sz="3060">
              <a:solidFill>
                <a:srgbClr val="D0B4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3060">
                <a:solidFill>
                  <a:srgbClr val="D0B400"/>
                </a:solidFill>
                <a:latin typeface="Avenir"/>
                <a:ea typeface="Avenir"/>
                <a:cs typeface="Avenir"/>
                <a:sym typeface="Avenir"/>
              </a:rPr>
              <a:t>Evaluación de Opciones Vocacionales</a:t>
            </a:r>
            <a:endParaRPr b="0" sz="3060">
              <a:solidFill>
                <a:srgbClr val="D0B4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80" name="Google Shape;80;p13"/>
          <p:cNvGrpSpPr/>
          <p:nvPr/>
        </p:nvGrpSpPr>
        <p:grpSpPr>
          <a:xfrm>
            <a:off x="0" y="5524500"/>
            <a:ext cx="9144000" cy="38100"/>
            <a:chOff x="0" y="5524500"/>
            <a:chExt cx="9144000" cy="381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5524500"/>
              <a:ext cx="9144000" cy="38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5524500"/>
              <a:ext cx="3810000" cy="38100"/>
            </a:xfrm>
            <a:prstGeom prst="rect">
              <a:avLst/>
            </a:prstGeom>
            <a:solidFill>
              <a:srgbClr val="F0D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810000" y="5524500"/>
              <a:ext cx="2286000" cy="38100"/>
            </a:xfrm>
            <a:prstGeom prst="rect">
              <a:avLst/>
            </a:prstGeom>
            <a:solidFill>
              <a:srgbClr val="3784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096000" y="5524500"/>
              <a:ext cx="1524000" cy="38100"/>
            </a:xfrm>
            <a:prstGeom prst="rect">
              <a:avLst/>
            </a:prstGeom>
            <a:solidFill>
              <a:srgbClr val="4C86C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7620000" y="5524500"/>
              <a:ext cx="762000" cy="38100"/>
            </a:xfrm>
            <a:prstGeom prst="rect">
              <a:avLst/>
            </a:prstGeom>
            <a:solidFill>
              <a:srgbClr val="312C7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8382000" y="5524500"/>
              <a:ext cx="762000" cy="38100"/>
            </a:xfrm>
            <a:prstGeom prst="rect">
              <a:avLst/>
            </a:prstGeom>
            <a:solidFill>
              <a:srgbClr val="C60A7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1747" l="0" r="0" t="1747"/>
          <a:stretch/>
        </p:blipFill>
        <p:spPr>
          <a:xfrm>
            <a:off x="571500" y="6105008"/>
            <a:ext cx="3268300" cy="1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667500" y="60007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A0A0A0"/>
                </a:solidFill>
                <a:latin typeface="Avenir"/>
                <a:ea typeface="Avenir"/>
                <a:cs typeface="Avenir"/>
                <a:sym typeface="Avenir"/>
              </a:rPr>
              <a:t>17 de junio de 2026</a:t>
            </a:r>
            <a:endParaRPr sz="1400">
              <a:solidFill>
                <a:srgbClr val="A0A0A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4"/>
          <p:cNvGrpSpPr/>
          <p:nvPr/>
        </p:nvGrpSpPr>
        <p:grpSpPr>
          <a:xfrm>
            <a:off x="0" y="5349960"/>
            <a:ext cx="9144360" cy="360"/>
            <a:chOff x="0" y="5349960"/>
            <a:chExt cx="9144360" cy="360"/>
          </a:xfrm>
        </p:grpSpPr>
        <p:cxnSp>
          <p:nvCxnSpPr>
            <p:cNvPr id="94" name="Google Shape;94;p14"/>
            <p:cNvCxnSpPr/>
            <p:nvPr/>
          </p:nvCxnSpPr>
          <p:spPr>
            <a:xfrm>
              <a:off x="0" y="5349960"/>
              <a:ext cx="3762000" cy="36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4"/>
            <p:cNvCxnSpPr/>
            <p:nvPr/>
          </p:nvCxnSpPr>
          <p:spPr>
            <a:xfrm>
              <a:off x="8306280" y="5349960"/>
              <a:ext cx="838080" cy="36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14"/>
            <p:cNvCxnSpPr/>
            <p:nvPr/>
          </p:nvCxnSpPr>
          <p:spPr>
            <a:xfrm>
              <a:off x="7576920" y="5349960"/>
              <a:ext cx="764640" cy="36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4"/>
            <p:cNvCxnSpPr/>
            <p:nvPr/>
          </p:nvCxnSpPr>
          <p:spPr>
            <a:xfrm>
              <a:off x="6046200" y="5349960"/>
              <a:ext cx="1531080" cy="36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>
              <a:off x="3761640" y="5349960"/>
              <a:ext cx="2284920" cy="36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9" name="Google Shape;99;p14"/>
          <p:cNvSpPr/>
          <p:nvPr/>
        </p:nvSpPr>
        <p:spPr>
          <a:xfrm>
            <a:off x="538920" y="2610720"/>
            <a:ext cx="833976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es-MX" sz="55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RESUMEN DEL CASO</a:t>
            </a:r>
            <a:endParaRPr b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110" l="0" r="0" t="110"/>
          <a:stretch/>
        </p:blipFill>
        <p:spPr>
          <a:xfrm>
            <a:off x="538925" y="478700"/>
            <a:ext cx="21909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1747" l="0" r="0" t="1747"/>
          <a:stretch/>
        </p:blipFill>
        <p:spPr>
          <a:xfrm>
            <a:off x="571500" y="6105008"/>
            <a:ext cx="3268300" cy="1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 rotWithShape="1">
          <a:blip r:embed="rId4">
            <a:alphaModFix/>
          </a:blip>
          <a:srcRect b="110" l="0" r="0" t="110"/>
          <a:stretch/>
        </p:blipFill>
        <p:spPr>
          <a:xfrm>
            <a:off x="6477000" y="381000"/>
            <a:ext cx="21909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762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2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RESUMEN DEL CASO</a:t>
            </a:r>
            <a:endParaRPr b="0" sz="28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08" name="Google Shape;108;p15"/>
          <p:cNvGrpSpPr/>
          <p:nvPr/>
        </p:nvGrpSpPr>
        <p:grpSpPr>
          <a:xfrm>
            <a:off x="571500" y="1333500"/>
            <a:ext cx="3905400" cy="1524000"/>
            <a:chOff x="571500" y="1333500"/>
            <a:chExt cx="3905400" cy="1524000"/>
          </a:xfrm>
        </p:grpSpPr>
        <p:sp>
          <p:nvSpPr>
            <p:cNvPr id="109" name="Google Shape;109;p15"/>
            <p:cNvSpPr/>
            <p:nvPr/>
          </p:nvSpPr>
          <p:spPr>
            <a:xfrm>
              <a:off x="571500" y="133350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1E1E1E"/>
            </a:solidFill>
            <a:ln cap="flat" cmpd="sng" w="9525">
              <a:solidFill>
                <a:srgbClr val="334E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762000" y="147637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14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PERFIL DEL ESTUDIANTE</a:t>
              </a:r>
              <a:endParaRPr b="0" sz="1400">
                <a:solidFill>
                  <a:srgbClr val="4C86CA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Necesidad:</a:t>
              </a:r>
              <a:r>
                <a:rPr lang="es-MX" sz="1100">
                  <a:solidFill>
                    <a:srgbClr val="CBD5E1"/>
                  </a:solidFill>
                  <a:latin typeface="Avenir"/>
                  <a:ea typeface="Avenir"/>
                  <a:cs typeface="Avenir"/>
                  <a:sym typeface="Avenir"/>
                </a:rPr>
                <a:t> Alumno de preparatoria próximo a elegir carrera.</a:t>
              </a:r>
              <a:endParaRPr sz="1100">
                <a:solidFill>
                  <a:srgbClr val="CBD5E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Intereses:</a:t>
              </a:r>
              <a:r>
                <a:rPr lang="es-MX" sz="1100">
                  <a:solidFill>
                    <a:srgbClr val="CBD5E1"/>
                  </a:solidFill>
                  <a:latin typeface="Avenir"/>
                  <a:ea typeface="Avenir"/>
                  <a:cs typeface="Avenir"/>
                  <a:sym typeface="Avenir"/>
                </a:rPr>
                <a:t> Negocios, tecnología, datos, IA y emprendimiento.</a:t>
              </a:r>
              <a:endParaRPr sz="1100">
                <a:solidFill>
                  <a:srgbClr val="CBD5E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4667250" y="1333500"/>
            <a:ext cx="3905400" cy="1524000"/>
            <a:chOff x="4667250" y="1333500"/>
            <a:chExt cx="3905400" cy="1524000"/>
          </a:xfrm>
        </p:grpSpPr>
        <p:sp>
          <p:nvSpPr>
            <p:cNvPr id="112" name="Google Shape;112;p15"/>
            <p:cNvSpPr/>
            <p:nvPr/>
          </p:nvSpPr>
          <p:spPr>
            <a:xfrm>
              <a:off x="4667250" y="133350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1E1E1E"/>
            </a:solidFill>
            <a:ln cap="flat" cmpd="sng" w="9525">
              <a:solidFill>
                <a:srgbClr val="147D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4857750" y="147637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1400">
                  <a:solidFill>
                    <a:srgbClr val="378453"/>
                  </a:solidFill>
                  <a:latin typeface="Avenir"/>
                  <a:ea typeface="Avenir"/>
                  <a:cs typeface="Avenir"/>
                  <a:sym typeface="Avenir"/>
                </a:rPr>
                <a:t>OBJETIVO DE CARRERA</a:t>
              </a:r>
              <a:endParaRPr b="0" sz="1400">
                <a:solidFill>
                  <a:srgbClr val="378453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rgbClr val="CBD5E1"/>
                  </a:solidFill>
                  <a:latin typeface="Avenir"/>
                  <a:ea typeface="Avenir"/>
                  <a:cs typeface="Avenir"/>
                  <a:sym typeface="Avenir"/>
                </a:rPr>
                <a:t>Carrera con buenas oportunidades laborales, aplicación práctica y balance entre empresas, datos e innovación.</a:t>
              </a:r>
              <a:endParaRPr sz="1100">
                <a:solidFill>
                  <a:srgbClr val="CBD5E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Área:</a:t>
              </a:r>
              <a:r>
                <a:rPr lang="es-MX" sz="1100">
                  <a:solidFill>
                    <a:srgbClr val="CBD5E1"/>
                  </a:solidFill>
                  <a:latin typeface="Avenir"/>
                  <a:ea typeface="Avenir"/>
                  <a:cs typeface="Avenir"/>
                  <a:sym typeface="Avenir"/>
                </a:rPr>
                <a:t> Negocios / Tecnología / Datos / Innovación.</a:t>
              </a:r>
              <a:endParaRPr sz="1100">
                <a:solidFill>
                  <a:srgbClr val="CBD5E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571500" y="3095625"/>
            <a:ext cx="8001000" cy="2238375"/>
            <a:chOff x="571500" y="3095625"/>
            <a:chExt cx="8001000" cy="2238375"/>
          </a:xfrm>
        </p:grpSpPr>
        <p:sp>
          <p:nvSpPr>
            <p:cNvPr id="115" name="Google Shape;115;p15"/>
            <p:cNvSpPr txBox="1"/>
            <p:nvPr/>
          </p:nvSpPr>
          <p:spPr>
            <a:xfrm>
              <a:off x="571500" y="30956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1400">
                  <a:solidFill>
                    <a:srgbClr val="F0D540"/>
                  </a:solidFill>
                  <a:latin typeface="Avenir"/>
                  <a:ea typeface="Avenir"/>
                  <a:cs typeface="Avenir"/>
                  <a:sym typeface="Avenir"/>
                </a:rPr>
                <a:t>DETALLES DE LA BÚSQUEDA</a:t>
              </a:r>
              <a:endParaRPr b="0" sz="1400">
                <a:solidFill>
                  <a:srgbClr val="F0D54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571500" y="3429000"/>
              <a:ext cx="800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• Oferta:</a:t>
              </a:r>
              <a:r>
                <a:rPr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Licenciatura presencial en Monterrey — negocios + tecnología + datos.</a:t>
              </a:r>
              <a:endParaRPr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• Ubicación y Modalidad:</a:t>
              </a:r>
              <a:r>
                <a:rPr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Monterrey, Presencial (Flexibilidad alta dentro de estos parámetros).</a:t>
              </a:r>
              <a:endParaRPr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• Instituciones:</a:t>
              </a:r>
              <a:r>
                <a:rPr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Tec de Monterrey y UDEM (Preferidas); UANL (Secundaria).</a:t>
              </a:r>
              <a:endParaRPr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• Duración:</a:t>
              </a:r>
              <a:r>
                <a:rPr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4 a 5 años (Carrera tradicional).</a:t>
              </a:r>
              <a:endParaRPr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4C86CA"/>
                  </a:solidFill>
                  <a:latin typeface="Avenir"/>
                  <a:ea typeface="Avenir"/>
                  <a:cs typeface="Avenir"/>
                  <a:sym typeface="Avenir"/>
                </a:rPr>
                <a:t>• Presupuesto:</a:t>
              </a:r>
              <a:r>
                <a:rPr lang="es-MX" sz="11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No definido — validar colegiaturas, becas y apoyos.</a:t>
              </a:r>
              <a:endParaRPr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571500" y="5524500"/>
            <a:ext cx="8001000" cy="857400"/>
            <a:chOff x="571500" y="5524500"/>
            <a:chExt cx="8001000" cy="857400"/>
          </a:xfrm>
        </p:grpSpPr>
        <p:sp>
          <p:nvSpPr>
            <p:cNvPr id="118" name="Google Shape;118;p15"/>
            <p:cNvSpPr/>
            <p:nvPr/>
          </p:nvSpPr>
          <p:spPr>
            <a:xfrm>
              <a:off x="571500" y="5524500"/>
              <a:ext cx="8001000" cy="857400"/>
            </a:xfrm>
            <a:prstGeom prst="roundRect">
              <a:avLst>
                <a:gd fmla="val 11111" name="adj"/>
              </a:avLst>
            </a:prstGeom>
            <a:solidFill>
              <a:srgbClr val="2D1212"/>
            </a:solidFill>
            <a:ln cap="flat" cmpd="sng" w="14300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762000" y="566737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1200">
                  <a:solidFill>
                    <a:srgbClr val="FEB2B2"/>
                  </a:solidFill>
                  <a:latin typeface="Avenir"/>
                  <a:ea typeface="Avenir"/>
                  <a:cs typeface="Avenir"/>
                  <a:sym typeface="Avenir"/>
                </a:rPr>
                <a:t>⚠️ NOTA CRÍTICA</a:t>
              </a:r>
              <a:endParaRPr b="0" sz="1200">
                <a:solidFill>
                  <a:srgbClr val="FEB2B2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1100">
                  <a:solidFill>
                    <a:srgbClr val="FEE2E2"/>
                  </a:solidFill>
                  <a:latin typeface="Avenir"/>
                  <a:ea typeface="Avenir"/>
                  <a:cs typeface="Avenir"/>
                  <a:sym typeface="Avenir"/>
                </a:rPr>
                <a:t>Evitar contabilidad pura, programación pura, salud, diseño puro y carreras sin componente de negocio.</a:t>
              </a:r>
              <a:endParaRPr b="0" sz="1100">
                <a:solidFill>
                  <a:srgbClr val="FEE2E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0" y="6819900"/>
            <a:ext cx="9191775" cy="38100"/>
            <a:chOff x="0" y="6819900"/>
            <a:chExt cx="9191775" cy="3810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6819900"/>
              <a:ext cx="3762300" cy="38100"/>
            </a:xfrm>
            <a:prstGeom prst="rect">
              <a:avLst/>
            </a:prstGeom>
            <a:solidFill>
              <a:srgbClr val="F0D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762375" y="6819900"/>
              <a:ext cx="2286000" cy="38100"/>
            </a:xfrm>
            <a:prstGeom prst="rect">
              <a:avLst/>
            </a:prstGeom>
            <a:solidFill>
              <a:srgbClr val="3784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6048375" y="6819900"/>
              <a:ext cx="1524000" cy="38100"/>
            </a:xfrm>
            <a:prstGeom prst="rect">
              <a:avLst/>
            </a:prstGeom>
            <a:solidFill>
              <a:srgbClr val="4C86C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7572375" y="6819900"/>
              <a:ext cx="762000" cy="38100"/>
            </a:xfrm>
            <a:prstGeom prst="rect">
              <a:avLst/>
            </a:prstGeom>
            <a:solidFill>
              <a:srgbClr val="312C7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8334375" y="6819900"/>
              <a:ext cx="857400" cy="38100"/>
            </a:xfrm>
            <a:prstGeom prst="rect">
              <a:avLst/>
            </a:prstGeom>
            <a:solidFill>
              <a:srgbClr val="C60A7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0" y="5349960"/>
            <a:ext cx="9144360" cy="360"/>
            <a:chOff x="0" y="5349960"/>
            <a:chExt cx="9144360" cy="360"/>
          </a:xfrm>
        </p:grpSpPr>
        <p:cxnSp>
          <p:nvCxnSpPr>
            <p:cNvPr id="131" name="Google Shape;131;p16"/>
            <p:cNvCxnSpPr/>
            <p:nvPr/>
          </p:nvCxnSpPr>
          <p:spPr>
            <a:xfrm>
              <a:off x="0" y="5349960"/>
              <a:ext cx="3762000" cy="36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16"/>
            <p:cNvCxnSpPr/>
            <p:nvPr/>
          </p:nvCxnSpPr>
          <p:spPr>
            <a:xfrm>
              <a:off x="8306280" y="5349960"/>
              <a:ext cx="838080" cy="36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16"/>
            <p:cNvCxnSpPr/>
            <p:nvPr/>
          </p:nvCxnSpPr>
          <p:spPr>
            <a:xfrm>
              <a:off x="7576920" y="5349960"/>
              <a:ext cx="764640" cy="36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6046200" y="5349960"/>
              <a:ext cx="1531080" cy="36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16"/>
            <p:cNvCxnSpPr/>
            <p:nvPr/>
          </p:nvCxnSpPr>
          <p:spPr>
            <a:xfrm>
              <a:off x="3761640" y="5349960"/>
              <a:ext cx="2284920" cy="36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6" name="Google Shape;136;p16"/>
          <p:cNvSpPr/>
          <p:nvPr/>
        </p:nvSpPr>
        <p:spPr>
          <a:xfrm>
            <a:off x="538920" y="2610720"/>
            <a:ext cx="833976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es-MX" sz="55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CRITERIOS DE EVALUACIÓN</a:t>
            </a:r>
            <a:endParaRPr b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110" l="0" r="0" t="110"/>
          <a:stretch/>
        </p:blipFill>
        <p:spPr>
          <a:xfrm>
            <a:off x="538925" y="478700"/>
            <a:ext cx="21909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 rotWithShape="1">
          <a:blip r:embed="rId4">
            <a:alphaModFix/>
          </a:blip>
          <a:srcRect b="1747" l="0" r="0" t="1747"/>
          <a:stretch/>
        </p:blipFill>
        <p:spPr>
          <a:xfrm>
            <a:off x="571500" y="6105008"/>
            <a:ext cx="3268300" cy="1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7"/>
          <p:cNvGrpSpPr/>
          <p:nvPr/>
        </p:nvGrpSpPr>
        <p:grpSpPr>
          <a:xfrm>
            <a:off x="381000" y="381000"/>
            <a:ext cx="8382000" cy="1809750"/>
            <a:chOff x="381000" y="381000"/>
            <a:chExt cx="8382000" cy="1809750"/>
          </a:xfrm>
        </p:grpSpPr>
        <p:pic>
          <p:nvPicPr>
            <p:cNvPr id="144" name="Google Shape;144;p17"/>
            <p:cNvPicPr preferRelativeResize="0"/>
            <p:nvPr/>
          </p:nvPicPr>
          <p:blipFill rotWithShape="1">
            <a:blip r:embed="rId4">
              <a:alphaModFix/>
            </a:blip>
            <a:srcRect b="150" l="0" r="0" t="160"/>
            <a:stretch/>
          </p:blipFill>
          <p:spPr>
            <a:xfrm>
              <a:off x="381000" y="381000"/>
              <a:ext cx="1905000" cy="52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7"/>
            <p:cNvSpPr txBox="1"/>
            <p:nvPr/>
          </p:nvSpPr>
          <p:spPr>
            <a:xfrm>
              <a:off x="381000" y="104775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4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CRITERIOS DE EVALUACIÓN</a:t>
              </a:r>
              <a:endParaRPr b="0" sz="42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81000" y="180975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8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Matriz — 100 puntos</a:t>
              </a:r>
              <a:endParaRPr b="1" i="1" sz="18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381000" y="2476500"/>
            <a:ext cx="8382000" cy="2286000"/>
            <a:chOff x="381000" y="2476500"/>
            <a:chExt cx="8382000" cy="2286000"/>
          </a:xfrm>
        </p:grpSpPr>
        <p:sp>
          <p:nvSpPr>
            <p:cNvPr id="148" name="Google Shape;148;p17"/>
            <p:cNvSpPr/>
            <p:nvPr/>
          </p:nvSpPr>
          <p:spPr>
            <a:xfrm>
              <a:off x="381000" y="247650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571500" y="2619375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OBJETIVO DEL CLIENTE</a:t>
              </a:r>
              <a:endParaRPr b="1" sz="11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2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25 pts</a:t>
              </a:r>
              <a:endParaRPr b="0" sz="2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238500" y="247650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3429000" y="2619375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ÁREA / TEMA</a:t>
              </a:r>
              <a:endParaRPr b="1" sz="11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2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15 pts</a:t>
              </a:r>
              <a:endParaRPr b="0" sz="2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6096000" y="247650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6286500" y="2619375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INSTITUCIÓN PREFERIDA</a:t>
              </a:r>
              <a:endParaRPr b="1" sz="11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2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81000" y="3810000"/>
              <a:ext cx="16002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523875" y="3905250"/>
              <a:ext cx="1314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9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MODALIDAD</a:t>
              </a:r>
              <a:endParaRPr b="1" sz="9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-MX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2076450" y="3810000"/>
              <a:ext cx="16002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2219325" y="3905250"/>
              <a:ext cx="1314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9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UBICACIÓN</a:t>
              </a:r>
              <a:endParaRPr b="1" sz="9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-MX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771900" y="3810000"/>
              <a:ext cx="16002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3914775" y="3905250"/>
              <a:ext cx="1314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9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DURACIÓN</a:t>
              </a:r>
              <a:endParaRPr b="1" sz="9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-MX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5467350" y="3810000"/>
              <a:ext cx="16002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5610225" y="3905250"/>
              <a:ext cx="1314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9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PRESUPUESTO</a:t>
              </a:r>
              <a:endParaRPr b="1" sz="9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-MX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7162800" y="3810000"/>
              <a:ext cx="16002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7305675" y="3905250"/>
              <a:ext cx="1314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900">
                  <a:solidFill>
                    <a:srgbClr val="94A3B8"/>
                  </a:solidFill>
                  <a:latin typeface="Avenir"/>
                  <a:ea typeface="Avenir"/>
                  <a:cs typeface="Avenir"/>
                  <a:sym typeface="Avenir"/>
                </a:rPr>
                <a:t>PERFIL/OTRO</a:t>
              </a:r>
              <a:endParaRPr b="1" sz="9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-MX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 pts</a:t>
              </a:r>
              <a:endParaRPr b="0" sz="2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381000" y="4953000"/>
            <a:ext cx="8382000" cy="1333500"/>
            <a:chOff x="381000" y="4953000"/>
            <a:chExt cx="8382000" cy="1333500"/>
          </a:xfrm>
        </p:grpSpPr>
        <p:sp>
          <p:nvSpPr>
            <p:cNvPr id="165" name="Google Shape;165;p17"/>
            <p:cNvSpPr/>
            <p:nvPr/>
          </p:nvSpPr>
          <p:spPr>
            <a:xfrm>
              <a:off x="381000" y="4953000"/>
              <a:ext cx="8382000" cy="1333500"/>
            </a:xfrm>
            <a:prstGeom prst="roundRect">
              <a:avLst>
                <a:gd fmla="val 8571" name="adj"/>
              </a:avLst>
            </a:prstGeom>
            <a:solidFill>
              <a:srgbClr val="2D1212"/>
            </a:solidFill>
            <a:ln cap="flat" cmpd="sng" w="952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571500" y="5095875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MX" sz="1300">
                  <a:solidFill>
                    <a:srgbClr val="FEB2B2"/>
                  </a:solidFill>
                  <a:latin typeface="Avenir"/>
                  <a:ea typeface="Avenir"/>
                  <a:cs typeface="Avenir"/>
                  <a:sym typeface="Avenir"/>
                </a:rPr>
                <a:t>NOTAS METODOLÓGICAS &amp; RECOMENDACIONES</a:t>
              </a:r>
              <a:endParaRPr b="0" sz="1300">
                <a:solidFill>
                  <a:srgbClr val="FEB2B2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MX" sz="1100">
                  <a:solidFill>
                    <a:srgbClr val="FEE2E2"/>
                  </a:solidFill>
                  <a:latin typeface="Avenir"/>
                  <a:ea typeface="Avenir"/>
                  <a:cs typeface="Avenir"/>
                  <a:sym typeface="Avenir"/>
                </a:rPr>
                <a:t>• Nota: Sin presupuesto máximo definido; criterio calificado conservadoramente.</a:t>
              </a:r>
              <a:endParaRPr b="0" sz="1100">
                <a:solidFill>
                  <a:srgbClr val="FEE2E2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MX" sz="1100">
                  <a:solidFill>
                    <a:srgbClr val="FEE2E2"/>
                  </a:solidFill>
                  <a:latin typeface="Avenir"/>
                  <a:ea typeface="Avenir"/>
                  <a:cs typeface="Avenir"/>
                  <a:sym typeface="Avenir"/>
                </a:rPr>
                <a:t>• Recomendación: Validar colegiaturas, becas y apoyos antes de decisión final.</a:t>
              </a:r>
              <a:endParaRPr b="0" sz="1100">
                <a:solidFill>
                  <a:srgbClr val="FEE2E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0" y="6819900"/>
            <a:ext cx="9144150" cy="38100"/>
            <a:chOff x="0" y="6819900"/>
            <a:chExt cx="9144150" cy="38100"/>
          </a:xfrm>
        </p:grpSpPr>
        <p:sp>
          <p:nvSpPr>
            <p:cNvPr id="168" name="Google Shape;168;p17"/>
            <p:cNvSpPr/>
            <p:nvPr/>
          </p:nvSpPr>
          <p:spPr>
            <a:xfrm>
              <a:off x="0" y="6819900"/>
              <a:ext cx="3753000" cy="38100"/>
            </a:xfrm>
            <a:prstGeom prst="rect">
              <a:avLst/>
            </a:prstGeom>
            <a:solidFill>
              <a:srgbClr val="F0D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3752850" y="6819900"/>
              <a:ext cx="2286000" cy="38100"/>
            </a:xfrm>
            <a:prstGeom prst="rect">
              <a:avLst/>
            </a:prstGeom>
            <a:solidFill>
              <a:srgbClr val="3784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6038850" y="6819900"/>
              <a:ext cx="1524000" cy="38100"/>
            </a:xfrm>
            <a:prstGeom prst="rect">
              <a:avLst/>
            </a:prstGeom>
            <a:solidFill>
              <a:srgbClr val="4C86C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562850" y="6819900"/>
              <a:ext cx="762000" cy="38100"/>
            </a:xfrm>
            <a:prstGeom prst="rect">
              <a:avLst/>
            </a:prstGeom>
            <a:solidFill>
              <a:srgbClr val="312C7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8324850" y="6819900"/>
              <a:ext cx="819300" cy="38100"/>
            </a:xfrm>
            <a:prstGeom prst="rect">
              <a:avLst/>
            </a:prstGeom>
            <a:solidFill>
              <a:srgbClr val="C60A7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381000" y="380153"/>
            <a:ext cx="8382000" cy="1810597"/>
            <a:chOff x="381000" y="380153"/>
            <a:chExt cx="8382000" cy="1810597"/>
          </a:xfrm>
        </p:grpSpPr>
        <p:pic>
          <p:nvPicPr>
            <p:cNvPr id="178" name="Google Shape;178;p18"/>
            <p:cNvPicPr preferRelativeResize="0"/>
            <p:nvPr/>
          </p:nvPicPr>
          <p:blipFill rotWithShape="1">
            <a:blip r:embed="rId4">
              <a:alphaModFix/>
            </a:blip>
            <a:srcRect b="319" l="0" r="0" t="10"/>
            <a:stretch/>
          </p:blipFill>
          <p:spPr>
            <a:xfrm>
              <a:off x="381000" y="380153"/>
              <a:ext cx="1905000" cy="52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8"/>
            <p:cNvSpPr/>
            <p:nvPr/>
          </p:nvSpPr>
          <p:spPr>
            <a:xfrm>
              <a:off x="381000" y="104775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Propuesta Académica</a:t>
              </a:r>
              <a:endParaRPr b="1" sz="14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OPCIÓN #1</a:t>
              </a:r>
              <a:endParaRPr b="0" sz="4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381000" y="2476500"/>
            <a:ext cx="8382000" cy="3048000"/>
            <a:chOff x="381000" y="2476500"/>
            <a:chExt cx="8382000" cy="3048000"/>
          </a:xfrm>
        </p:grpSpPr>
        <p:sp>
          <p:nvSpPr>
            <p:cNvPr id="182" name="Google Shape;182;p18"/>
            <p:cNvSpPr/>
            <p:nvPr/>
          </p:nvSpPr>
          <p:spPr>
            <a:xfrm>
              <a:off x="381000" y="2476500"/>
              <a:ext cx="8382000" cy="3048000"/>
            </a:xfrm>
            <a:prstGeom prst="roundRect">
              <a:avLst>
                <a:gd fmla="val 625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762000" y="2857500"/>
              <a:ext cx="7620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s-MX" sz="55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TEC DE MONTERREY</a:t>
              </a:r>
              <a:endParaRPr b="0" i="1" sz="5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MX" sz="17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Inteligencia de Negocios</a:t>
              </a:r>
              <a:endParaRPr b="0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0" y="6819900"/>
            <a:ext cx="9144150" cy="38100"/>
            <a:chOff x="0" y="6819900"/>
            <a:chExt cx="9144150" cy="38100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6819900"/>
              <a:ext cx="3753000" cy="38100"/>
            </a:xfrm>
            <a:prstGeom prst="rect">
              <a:avLst/>
            </a:prstGeom>
            <a:solidFill>
              <a:srgbClr val="F0D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752850" y="6819900"/>
              <a:ext cx="2286000" cy="38100"/>
            </a:xfrm>
            <a:prstGeom prst="rect">
              <a:avLst/>
            </a:prstGeom>
            <a:solidFill>
              <a:srgbClr val="3784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6038850" y="6819900"/>
              <a:ext cx="1524000" cy="38100"/>
            </a:xfrm>
            <a:prstGeom prst="rect">
              <a:avLst/>
            </a:prstGeom>
            <a:solidFill>
              <a:srgbClr val="4C86C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562850" y="6819900"/>
              <a:ext cx="762000" cy="38100"/>
            </a:xfrm>
            <a:prstGeom prst="rect">
              <a:avLst/>
            </a:prstGeom>
            <a:solidFill>
              <a:srgbClr val="312C7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8324850" y="6819900"/>
              <a:ext cx="819300" cy="38100"/>
            </a:xfrm>
            <a:prstGeom prst="rect">
              <a:avLst/>
            </a:prstGeom>
            <a:solidFill>
              <a:srgbClr val="C60A7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-25560" y="0"/>
            <a:ext cx="2154960" cy="6857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325960" y="417240"/>
            <a:ext cx="4798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rPr>
              <a:t>Inteligencia de Negocios</a:t>
            </a:r>
            <a:endParaRPr b="0" i="0" sz="170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-26640" y="2320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Datos Clave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-46440" y="1480680"/>
            <a:ext cx="2118600" cy="58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Match &amp; Justificación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252280" y="235800"/>
            <a:ext cx="6958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impulsa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343960" y="2343600"/>
            <a:ext cx="61934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 de Monterrey | Licenciatura | Presencial | Monterrey y varios campus | 4 años | Inversión pendiente de validar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304720" y="1493280"/>
            <a:ext cx="6193440" cy="89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97/100 — Mejor balance entre negocio, datos, analítica y tecnología aplicada. Integra IA, visualización, estrategia y toma de decisiones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-26640" y="2905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Riesgos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9"/>
          <p:cNvGraphicFramePr/>
          <p:nvPr/>
        </p:nvGraphicFramePr>
        <p:xfrm>
          <a:off x="2402640" y="502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211475"/>
                <a:gridCol w="3884050"/>
              </a:tblGrid>
              <a:tr h="246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 hMerge="1"/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 1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 página específica del programa y campus disponible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 2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Confirmar plan vigente y materias de IA / datos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 3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sng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Revisar costos, becas y apoyos disponibles</a:t>
                      </a: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9"/>
          <p:cNvGraphicFramePr/>
          <p:nvPr/>
        </p:nvGraphicFramePr>
        <p:xfrm>
          <a:off x="3244505" y="3075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1819550"/>
                <a:gridCol w="2379725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Criterio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Resultado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Puntaje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97/100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Liga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https://tec.mx/es/negocios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Inversión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Pendiente de validar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4" name="Google Shape;204;p19"/>
          <p:cNvPicPr preferRelativeResize="0"/>
          <p:nvPr/>
        </p:nvPicPr>
        <p:blipFill rotWithShape="1">
          <a:blip r:embed="rId4">
            <a:alphaModFix/>
          </a:blip>
          <a:srcRect b="319" l="0" r="0" t="10"/>
          <a:stretch/>
        </p:blipFill>
        <p:spPr>
          <a:xfrm>
            <a:off x="6632400" y="289478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19"/>
          <p:cNvGrpSpPr/>
          <p:nvPr/>
        </p:nvGrpSpPr>
        <p:grpSpPr>
          <a:xfrm rot="-5400000">
            <a:off x="-2480150" y="4572085"/>
            <a:ext cx="9144480" cy="300"/>
            <a:chOff x="0" y="5349960"/>
            <a:chExt cx="9144480" cy="300"/>
          </a:xfrm>
        </p:grpSpPr>
        <p:cxnSp>
          <p:nvCxnSpPr>
            <p:cNvPr id="206" name="Google Shape;206;p19"/>
            <p:cNvCxnSpPr/>
            <p:nvPr/>
          </p:nvCxnSpPr>
          <p:spPr>
            <a:xfrm>
              <a:off x="0" y="5349960"/>
              <a:ext cx="3762000" cy="30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19"/>
            <p:cNvCxnSpPr/>
            <p:nvPr/>
          </p:nvCxnSpPr>
          <p:spPr>
            <a:xfrm>
              <a:off x="8306280" y="5349960"/>
              <a:ext cx="838200" cy="30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19"/>
            <p:cNvCxnSpPr/>
            <p:nvPr/>
          </p:nvCxnSpPr>
          <p:spPr>
            <a:xfrm>
              <a:off x="7576920" y="5349960"/>
              <a:ext cx="764700" cy="30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19"/>
            <p:cNvCxnSpPr/>
            <p:nvPr/>
          </p:nvCxnSpPr>
          <p:spPr>
            <a:xfrm>
              <a:off x="6046200" y="5349960"/>
              <a:ext cx="1531200" cy="30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19"/>
            <p:cNvCxnSpPr/>
            <p:nvPr/>
          </p:nvCxnSpPr>
          <p:spPr>
            <a:xfrm>
              <a:off x="3761640" y="5349960"/>
              <a:ext cx="2284800" cy="30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0"/>
          <p:cNvGrpSpPr/>
          <p:nvPr/>
        </p:nvGrpSpPr>
        <p:grpSpPr>
          <a:xfrm>
            <a:off x="0" y="6819900"/>
            <a:ext cx="9144476" cy="0"/>
            <a:chOff x="0" y="6819900"/>
            <a:chExt cx="9144476" cy="0"/>
          </a:xfrm>
        </p:grpSpPr>
        <p:cxnSp>
          <p:nvCxnSpPr>
            <p:cNvPr id="216" name="Google Shape;216;p20"/>
            <p:cNvCxnSpPr/>
            <p:nvPr/>
          </p:nvCxnSpPr>
          <p:spPr>
            <a:xfrm>
              <a:off x="0" y="6819900"/>
              <a:ext cx="3762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8306276" y="6819900"/>
              <a:ext cx="838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20"/>
            <p:cNvCxnSpPr/>
            <p:nvPr/>
          </p:nvCxnSpPr>
          <p:spPr>
            <a:xfrm>
              <a:off x="7576918" y="6819900"/>
              <a:ext cx="7647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6046203" y="6819900"/>
              <a:ext cx="1531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3761642" y="6819900"/>
              <a:ext cx="22848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1" name="Google Shape;221;p20"/>
          <p:cNvGrpSpPr/>
          <p:nvPr/>
        </p:nvGrpSpPr>
        <p:grpSpPr>
          <a:xfrm>
            <a:off x="381000" y="1047750"/>
            <a:ext cx="8382000" cy="1143000"/>
            <a:chOff x="381000" y="1047750"/>
            <a:chExt cx="8382000" cy="1143000"/>
          </a:xfrm>
        </p:grpSpPr>
        <p:sp>
          <p:nvSpPr>
            <p:cNvPr id="222" name="Google Shape;222;p20"/>
            <p:cNvSpPr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Propuesta Académica</a:t>
              </a:r>
              <a:endParaRPr b="1" sz="14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OPCIÓN #2</a:t>
              </a:r>
              <a:endParaRPr b="0" sz="4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381000" y="381000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0"/>
          <p:cNvGrpSpPr/>
          <p:nvPr/>
        </p:nvGrpSpPr>
        <p:grpSpPr>
          <a:xfrm>
            <a:off x="381000" y="2476500"/>
            <a:ext cx="8382000" cy="3048000"/>
            <a:chOff x="381000" y="2476500"/>
            <a:chExt cx="8382000" cy="3048000"/>
          </a:xfrm>
        </p:grpSpPr>
        <p:sp>
          <p:nvSpPr>
            <p:cNvPr id="226" name="Google Shape;226;p20"/>
            <p:cNvSpPr/>
            <p:nvPr/>
          </p:nvSpPr>
          <p:spPr>
            <a:xfrm>
              <a:off x="381000" y="2476500"/>
              <a:ext cx="8382000" cy="3048000"/>
            </a:xfrm>
            <a:prstGeom prst="roundRect">
              <a:avLst>
                <a:gd fmla="val 625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762000" y="2857500"/>
              <a:ext cx="7620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s-MX" sz="55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TEC DE MONTERREY</a:t>
              </a:r>
              <a:endParaRPr i="1" sz="55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MX" sz="17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Estrategia y Transformación de Negocios</a:t>
              </a:r>
              <a:endParaRPr sz="17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/>
          <p:nvPr/>
        </p:nvSpPr>
        <p:spPr>
          <a:xfrm>
            <a:off x="-25560" y="0"/>
            <a:ext cx="2154900" cy="6857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2417785" y="401440"/>
            <a:ext cx="479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rPr>
              <a:t>Estrategia y Transformación de </a:t>
            </a:r>
            <a:r>
              <a:rPr b="0" i="0" lang="es-MX" sz="1700" u="none" cap="none" strike="noStrike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rPr>
              <a:t>Negocios</a:t>
            </a:r>
            <a:endParaRPr b="0" i="0" sz="170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-26640" y="2320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Datos Clave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-46440" y="1480680"/>
            <a:ext cx="2118600" cy="58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Match &amp; Justificación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343960" y="2343600"/>
            <a:ext cx="61934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 de Monterrey | Licenciatura | Presencial | Campus Monterrey | 4 años | Inversión pendiente de validar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304720" y="1493280"/>
            <a:ext cx="6193440" cy="89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94/100 — Excelente opción si el cliente se inclina hacia estrategia, innovación, transformación empresarial, modelos de negocio y emprendimiento. Enfoque en empleabilidad y liderazgo organizacional.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-26640" y="2905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Riesgos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21"/>
          <p:cNvGraphicFramePr/>
          <p:nvPr/>
        </p:nvGraphicFramePr>
        <p:xfrm>
          <a:off x="2595528" y="5053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211475"/>
                <a:gridCol w="3884050"/>
              </a:tblGrid>
              <a:tr h="246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 hMerge="1"/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Institución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Posible duplicado en catálogo; validar registro oficial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Tipo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Confirmar plan vigente y profundidad en datos / IA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sng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Validar costos, becas y apoyos disponiblesle</a:t>
                      </a: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Google Shape;240;p21"/>
          <p:cNvGraphicFramePr/>
          <p:nvPr/>
        </p:nvGraphicFramePr>
        <p:xfrm>
          <a:off x="2978880" y="3075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664425"/>
                <a:gridCol w="2664425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Criterio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Resultado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Puntaje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94/100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Liga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tec.mx/es » Estrategia y Transformación de Negocios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Inversión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Pendiente de validar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1" name="Google Shape;241;p21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7124100" y="273650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1"/>
          <p:cNvGrpSpPr/>
          <p:nvPr/>
        </p:nvGrpSpPr>
        <p:grpSpPr>
          <a:xfrm rot="-5400000">
            <a:off x="-2442738" y="4572085"/>
            <a:ext cx="9144480" cy="300"/>
            <a:chOff x="0" y="5349960"/>
            <a:chExt cx="9144480" cy="300"/>
          </a:xfrm>
        </p:grpSpPr>
        <p:cxnSp>
          <p:nvCxnSpPr>
            <p:cNvPr id="243" name="Google Shape;243;p21"/>
            <p:cNvCxnSpPr/>
            <p:nvPr/>
          </p:nvCxnSpPr>
          <p:spPr>
            <a:xfrm>
              <a:off x="0" y="5349960"/>
              <a:ext cx="3762000" cy="30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1"/>
            <p:cNvCxnSpPr/>
            <p:nvPr/>
          </p:nvCxnSpPr>
          <p:spPr>
            <a:xfrm>
              <a:off x="8306280" y="5349960"/>
              <a:ext cx="838200" cy="30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1"/>
            <p:cNvCxnSpPr/>
            <p:nvPr/>
          </p:nvCxnSpPr>
          <p:spPr>
            <a:xfrm>
              <a:off x="7576920" y="5349960"/>
              <a:ext cx="764700" cy="30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21"/>
            <p:cNvCxnSpPr/>
            <p:nvPr/>
          </p:nvCxnSpPr>
          <p:spPr>
            <a:xfrm>
              <a:off x="6046200" y="5349960"/>
              <a:ext cx="1531200" cy="30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21"/>
            <p:cNvCxnSpPr/>
            <p:nvPr/>
          </p:nvCxnSpPr>
          <p:spPr>
            <a:xfrm>
              <a:off x="3761640" y="5349960"/>
              <a:ext cx="2284800" cy="30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2"/>
          <p:cNvGrpSpPr/>
          <p:nvPr/>
        </p:nvGrpSpPr>
        <p:grpSpPr>
          <a:xfrm>
            <a:off x="0" y="6819900"/>
            <a:ext cx="9144476" cy="0"/>
            <a:chOff x="0" y="6819900"/>
            <a:chExt cx="9144476" cy="0"/>
          </a:xfrm>
        </p:grpSpPr>
        <p:cxnSp>
          <p:nvCxnSpPr>
            <p:cNvPr id="253" name="Google Shape;253;p22"/>
            <p:cNvCxnSpPr/>
            <p:nvPr/>
          </p:nvCxnSpPr>
          <p:spPr>
            <a:xfrm>
              <a:off x="0" y="6819900"/>
              <a:ext cx="3762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22"/>
            <p:cNvCxnSpPr/>
            <p:nvPr/>
          </p:nvCxnSpPr>
          <p:spPr>
            <a:xfrm>
              <a:off x="8306276" y="6819900"/>
              <a:ext cx="838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7576918" y="6819900"/>
              <a:ext cx="7647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6046203" y="6819900"/>
              <a:ext cx="1531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22"/>
            <p:cNvCxnSpPr/>
            <p:nvPr/>
          </p:nvCxnSpPr>
          <p:spPr>
            <a:xfrm>
              <a:off x="3761642" y="6819900"/>
              <a:ext cx="22848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8" name="Google Shape;258;p22"/>
          <p:cNvGrpSpPr/>
          <p:nvPr/>
        </p:nvGrpSpPr>
        <p:grpSpPr>
          <a:xfrm>
            <a:off x="381000" y="1047750"/>
            <a:ext cx="8382000" cy="1143000"/>
            <a:chOff x="381000" y="1047750"/>
            <a:chExt cx="8382000" cy="1143000"/>
          </a:xfrm>
        </p:grpSpPr>
        <p:sp>
          <p:nvSpPr>
            <p:cNvPr id="259" name="Google Shape;259;p22"/>
            <p:cNvSpPr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Propuesta Académica</a:t>
              </a:r>
              <a:endParaRPr b="1" sz="14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OPCIÓN #</a:t>
              </a:r>
              <a:r>
                <a:rPr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b="0" sz="4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61" name="Google Shape;261;p22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381000" y="381000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2"/>
          <p:cNvGrpSpPr/>
          <p:nvPr/>
        </p:nvGrpSpPr>
        <p:grpSpPr>
          <a:xfrm>
            <a:off x="381000" y="2476500"/>
            <a:ext cx="8382000" cy="3048000"/>
            <a:chOff x="381000" y="2476500"/>
            <a:chExt cx="8382000" cy="3048000"/>
          </a:xfrm>
        </p:grpSpPr>
        <p:sp>
          <p:nvSpPr>
            <p:cNvPr id="263" name="Google Shape;263;p22"/>
            <p:cNvSpPr/>
            <p:nvPr/>
          </p:nvSpPr>
          <p:spPr>
            <a:xfrm>
              <a:off x="381000" y="2476500"/>
              <a:ext cx="8382000" cy="3048000"/>
            </a:xfrm>
            <a:prstGeom prst="roundRect">
              <a:avLst>
                <a:gd fmla="val 625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 txBox="1"/>
            <p:nvPr/>
          </p:nvSpPr>
          <p:spPr>
            <a:xfrm>
              <a:off x="762000" y="2857500"/>
              <a:ext cx="7620000" cy="2286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s-MX" sz="55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TEC DE MONTERREY</a:t>
              </a:r>
              <a:endParaRPr i="1" sz="55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MX" sz="17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Administración y Estrategia de Negocios</a:t>
              </a:r>
              <a:endParaRPr sz="1700">
                <a:solidFill>
                  <a:schemeClr val="lt1"/>
                </a:solidFill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-25560" y="0"/>
            <a:ext cx="2154900" cy="6857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p23"/>
          <p:cNvGrpSpPr/>
          <p:nvPr/>
        </p:nvGrpSpPr>
        <p:grpSpPr>
          <a:xfrm rot="-5400000">
            <a:off x="-2442738" y="4572085"/>
            <a:ext cx="9144480" cy="300"/>
            <a:chOff x="0" y="5349960"/>
            <a:chExt cx="9144480" cy="300"/>
          </a:xfrm>
        </p:grpSpPr>
        <p:cxnSp>
          <p:nvCxnSpPr>
            <p:cNvPr id="271" name="Google Shape;271;p23"/>
            <p:cNvCxnSpPr/>
            <p:nvPr/>
          </p:nvCxnSpPr>
          <p:spPr>
            <a:xfrm>
              <a:off x="0" y="5349960"/>
              <a:ext cx="3762000" cy="30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23"/>
            <p:cNvCxnSpPr/>
            <p:nvPr/>
          </p:nvCxnSpPr>
          <p:spPr>
            <a:xfrm>
              <a:off x="8306280" y="5349960"/>
              <a:ext cx="838200" cy="30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23"/>
            <p:cNvCxnSpPr/>
            <p:nvPr/>
          </p:nvCxnSpPr>
          <p:spPr>
            <a:xfrm>
              <a:off x="7576920" y="5349960"/>
              <a:ext cx="764700" cy="30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23"/>
            <p:cNvCxnSpPr/>
            <p:nvPr/>
          </p:nvCxnSpPr>
          <p:spPr>
            <a:xfrm>
              <a:off x="6046200" y="5349960"/>
              <a:ext cx="1531200" cy="30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23"/>
            <p:cNvCxnSpPr/>
            <p:nvPr/>
          </p:nvCxnSpPr>
          <p:spPr>
            <a:xfrm>
              <a:off x="3761640" y="5349960"/>
              <a:ext cx="2284800" cy="30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6" name="Google Shape;276;p23"/>
          <p:cNvSpPr/>
          <p:nvPr/>
        </p:nvSpPr>
        <p:spPr>
          <a:xfrm>
            <a:off x="2325960" y="417240"/>
            <a:ext cx="4798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rPr>
              <a:t>Administración y Estrategia de Negocios</a:t>
            </a:r>
            <a:endParaRPr b="0" i="0" sz="170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-26640" y="2320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Datos Clave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-46440" y="1480680"/>
            <a:ext cx="2118600" cy="58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Match &amp; Justificación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2343960" y="2343600"/>
            <a:ext cx="61934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 de Monterrey | Licenciatura | Presencial | Monterrey y varios campus | 4 años | Inversión pendiente de validar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304720" y="1493280"/>
            <a:ext cx="6193440" cy="89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92/100 — Opción amplia y flexible. Cubre administración, </a:t>
            </a:r>
            <a:r>
              <a:rPr lang="es-MX" sz="13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estratégia</a:t>
            </a: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, finanzas, operaciones, innovación y liderazgo. Recomendable si la familia quiere versatilidad sin cerrar caminos profesionales.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-26640" y="2905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Riesgos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2402640" y="502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211475"/>
                <a:gridCol w="3884050"/>
              </a:tblGrid>
              <a:tr h="246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 hMerge="1"/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Institución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Menor especialización en tecnología y datos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Tipo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Confirmar carga real de analítica y proyectos con empresas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sng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Revisar costos, becas y disponibilidad en campusle</a:t>
                      </a: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Google Shape;283;p23"/>
          <p:cNvGraphicFramePr/>
          <p:nvPr/>
        </p:nvGraphicFramePr>
        <p:xfrm>
          <a:off x="3141830" y="3075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323725"/>
                <a:gridCol w="2323725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Criterio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Resultado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Puntaje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92/100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Liga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tec.mx/es » Administración y Estrategia de Negocios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Inversión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Pendiente de validar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4" name="Google Shape;284;p23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7124100" y="273650"/>
            <a:ext cx="1905000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4"/>
          <p:cNvGrpSpPr/>
          <p:nvPr/>
        </p:nvGrpSpPr>
        <p:grpSpPr>
          <a:xfrm>
            <a:off x="0" y="6819900"/>
            <a:ext cx="9144476" cy="0"/>
            <a:chOff x="0" y="6819900"/>
            <a:chExt cx="9144476" cy="0"/>
          </a:xfrm>
        </p:grpSpPr>
        <p:cxnSp>
          <p:nvCxnSpPr>
            <p:cNvPr id="290" name="Google Shape;290;p24"/>
            <p:cNvCxnSpPr/>
            <p:nvPr/>
          </p:nvCxnSpPr>
          <p:spPr>
            <a:xfrm>
              <a:off x="0" y="6819900"/>
              <a:ext cx="3762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4"/>
            <p:cNvCxnSpPr/>
            <p:nvPr/>
          </p:nvCxnSpPr>
          <p:spPr>
            <a:xfrm>
              <a:off x="8306276" y="6819900"/>
              <a:ext cx="838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4"/>
            <p:cNvCxnSpPr/>
            <p:nvPr/>
          </p:nvCxnSpPr>
          <p:spPr>
            <a:xfrm>
              <a:off x="7576918" y="6819900"/>
              <a:ext cx="7647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4"/>
            <p:cNvCxnSpPr/>
            <p:nvPr/>
          </p:nvCxnSpPr>
          <p:spPr>
            <a:xfrm>
              <a:off x="6046203" y="6819900"/>
              <a:ext cx="1531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4"/>
            <p:cNvCxnSpPr/>
            <p:nvPr/>
          </p:nvCxnSpPr>
          <p:spPr>
            <a:xfrm>
              <a:off x="3761642" y="6819900"/>
              <a:ext cx="22848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5" name="Google Shape;295;p24"/>
          <p:cNvGrpSpPr/>
          <p:nvPr/>
        </p:nvGrpSpPr>
        <p:grpSpPr>
          <a:xfrm>
            <a:off x="381000" y="1047750"/>
            <a:ext cx="8382000" cy="1143000"/>
            <a:chOff x="381000" y="1047750"/>
            <a:chExt cx="8382000" cy="1143000"/>
          </a:xfrm>
        </p:grpSpPr>
        <p:sp>
          <p:nvSpPr>
            <p:cNvPr id="296" name="Google Shape;296;p24"/>
            <p:cNvSpPr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4"/>
            <p:cNvSpPr txBox="1"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Propuesta Académica</a:t>
              </a:r>
              <a:endParaRPr b="1" sz="14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OPCIÓN #</a:t>
              </a:r>
              <a:r>
                <a:rPr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 b="0" sz="4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98" name="Google Shape;298;p24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381000" y="381000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4"/>
          <p:cNvGrpSpPr/>
          <p:nvPr/>
        </p:nvGrpSpPr>
        <p:grpSpPr>
          <a:xfrm>
            <a:off x="381000" y="2476500"/>
            <a:ext cx="8382000" cy="3048000"/>
            <a:chOff x="381000" y="2476500"/>
            <a:chExt cx="8382000" cy="3048000"/>
          </a:xfrm>
        </p:grpSpPr>
        <p:sp>
          <p:nvSpPr>
            <p:cNvPr id="300" name="Google Shape;300;p24"/>
            <p:cNvSpPr/>
            <p:nvPr/>
          </p:nvSpPr>
          <p:spPr>
            <a:xfrm>
              <a:off x="381000" y="2476500"/>
              <a:ext cx="8382000" cy="3048000"/>
            </a:xfrm>
            <a:prstGeom prst="roundRect">
              <a:avLst>
                <a:gd fmla="val 625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 txBox="1"/>
            <p:nvPr/>
          </p:nvSpPr>
          <p:spPr>
            <a:xfrm>
              <a:off x="762000" y="2857500"/>
              <a:ext cx="7620000" cy="2286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s-MX" sz="55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TEC DE MONTERREY</a:t>
              </a:r>
              <a:endParaRPr i="1" sz="55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MX" sz="17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Ingeniería en Innovación y Desarrollo</a:t>
              </a:r>
              <a:endParaRPr sz="1700">
                <a:solidFill>
                  <a:schemeClr val="lt1"/>
                </a:solidFill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-25560" y="0"/>
            <a:ext cx="2154900" cy="6857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325960" y="417240"/>
            <a:ext cx="4798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rPr>
              <a:t>Ingeniería en Innovación y Desarrollo</a:t>
            </a:r>
            <a:endParaRPr b="0" i="0" sz="170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-26640" y="2320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Datos Clave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-46440" y="1480680"/>
            <a:ext cx="2118600" cy="58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Match &amp; Justificación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2343960" y="2343600"/>
            <a:ext cx="61934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 de Monterrey | Ingeniería | Presencial | Campus Monterrey | 4 años | Inversión pendiente de validar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2304720" y="1493280"/>
            <a:ext cx="6193440" cy="89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90/100 — Alternativa tecnológica con innovación y emprendimiento. Desarrolla habilidades para crear soluciones, gestionar proyectos, analizar datos y trabajar en tecnología aplicada.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-26640" y="2905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Riesgos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25"/>
          <p:cNvGraphicFramePr/>
          <p:nvPr/>
        </p:nvGraphicFramePr>
        <p:xfrm>
          <a:off x="2402640" y="502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211475"/>
                <a:gridCol w="3884050"/>
              </a:tblGrid>
              <a:tr h="246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 hMerge="1"/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Institución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Puede ser más técnica / ingenieril de lo deseado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Tipo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 nivel de programación y matemáticas requerido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sng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Confirmar componente real de negocio en el planle</a:t>
                      </a: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25"/>
          <p:cNvGraphicFramePr/>
          <p:nvPr/>
        </p:nvGraphicFramePr>
        <p:xfrm>
          <a:off x="2786330" y="3075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442275"/>
                <a:gridCol w="2442275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Criterio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Resultado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Puntaje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90/100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Liga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tec.mx/es » Ingeniería en Innovación y Desarrollo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Inversión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Pendiente de validar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15" name="Google Shape;315;p25"/>
          <p:cNvGrpSpPr/>
          <p:nvPr/>
        </p:nvGrpSpPr>
        <p:grpSpPr>
          <a:xfrm rot="-5400000">
            <a:off x="-2442738" y="4572085"/>
            <a:ext cx="9144480" cy="300"/>
            <a:chOff x="0" y="5349960"/>
            <a:chExt cx="9144480" cy="300"/>
          </a:xfrm>
        </p:grpSpPr>
        <p:cxnSp>
          <p:nvCxnSpPr>
            <p:cNvPr id="316" name="Google Shape;316;p25"/>
            <p:cNvCxnSpPr/>
            <p:nvPr/>
          </p:nvCxnSpPr>
          <p:spPr>
            <a:xfrm>
              <a:off x="0" y="5349960"/>
              <a:ext cx="3762000" cy="30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25"/>
            <p:cNvCxnSpPr/>
            <p:nvPr/>
          </p:nvCxnSpPr>
          <p:spPr>
            <a:xfrm>
              <a:off x="8306280" y="5349960"/>
              <a:ext cx="838200" cy="30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25"/>
            <p:cNvCxnSpPr/>
            <p:nvPr/>
          </p:nvCxnSpPr>
          <p:spPr>
            <a:xfrm>
              <a:off x="7576920" y="5349960"/>
              <a:ext cx="764700" cy="30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25"/>
            <p:cNvCxnSpPr/>
            <p:nvPr/>
          </p:nvCxnSpPr>
          <p:spPr>
            <a:xfrm>
              <a:off x="6046200" y="5349960"/>
              <a:ext cx="1531200" cy="30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25"/>
            <p:cNvCxnSpPr/>
            <p:nvPr/>
          </p:nvCxnSpPr>
          <p:spPr>
            <a:xfrm>
              <a:off x="3761640" y="5349960"/>
              <a:ext cx="2284800" cy="30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321" name="Google Shape;321;p25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6593150" y="273650"/>
            <a:ext cx="1905000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6"/>
          <p:cNvGrpSpPr/>
          <p:nvPr/>
        </p:nvGrpSpPr>
        <p:grpSpPr>
          <a:xfrm>
            <a:off x="0" y="6819900"/>
            <a:ext cx="9144476" cy="0"/>
            <a:chOff x="0" y="6819900"/>
            <a:chExt cx="9144476" cy="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0" y="6819900"/>
              <a:ext cx="3762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26"/>
            <p:cNvCxnSpPr/>
            <p:nvPr/>
          </p:nvCxnSpPr>
          <p:spPr>
            <a:xfrm>
              <a:off x="8306276" y="6819900"/>
              <a:ext cx="838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6"/>
            <p:cNvCxnSpPr/>
            <p:nvPr/>
          </p:nvCxnSpPr>
          <p:spPr>
            <a:xfrm>
              <a:off x="7576918" y="6819900"/>
              <a:ext cx="7647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6"/>
            <p:cNvCxnSpPr/>
            <p:nvPr/>
          </p:nvCxnSpPr>
          <p:spPr>
            <a:xfrm>
              <a:off x="6046203" y="6819900"/>
              <a:ext cx="15312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26"/>
            <p:cNvCxnSpPr/>
            <p:nvPr/>
          </p:nvCxnSpPr>
          <p:spPr>
            <a:xfrm>
              <a:off x="3761642" y="6819900"/>
              <a:ext cx="22848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32" name="Google Shape;332;p26"/>
          <p:cNvGrpSpPr/>
          <p:nvPr/>
        </p:nvGrpSpPr>
        <p:grpSpPr>
          <a:xfrm>
            <a:off x="381000" y="1047750"/>
            <a:ext cx="8382000" cy="1143000"/>
            <a:chOff x="381000" y="1047750"/>
            <a:chExt cx="8382000" cy="1143000"/>
          </a:xfrm>
        </p:grpSpPr>
        <p:sp>
          <p:nvSpPr>
            <p:cNvPr id="333" name="Google Shape;333;p26"/>
            <p:cNvSpPr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6"/>
            <p:cNvSpPr txBox="1"/>
            <p:nvPr/>
          </p:nvSpPr>
          <p:spPr>
            <a:xfrm>
              <a:off x="381000" y="104775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>
                  <a:solidFill>
                    <a:srgbClr val="38BDF8"/>
                  </a:solidFill>
                  <a:latin typeface="Avenir"/>
                  <a:ea typeface="Avenir"/>
                  <a:cs typeface="Avenir"/>
                  <a:sym typeface="Avenir"/>
                </a:rPr>
                <a:t>Propuesta Académica</a:t>
              </a:r>
              <a:endParaRPr b="1" sz="1400">
                <a:solidFill>
                  <a:srgbClr val="38BDF8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OPCIÓN #</a:t>
              </a:r>
              <a:r>
                <a:rPr lang="es-MX" sz="48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 b="0" sz="4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335" name="Google Shape;335;p26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381000" y="381000"/>
            <a:ext cx="1905000" cy="5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6"/>
          <p:cNvGrpSpPr/>
          <p:nvPr/>
        </p:nvGrpSpPr>
        <p:grpSpPr>
          <a:xfrm>
            <a:off x="381000" y="2476500"/>
            <a:ext cx="8382000" cy="3048000"/>
            <a:chOff x="381000" y="2476500"/>
            <a:chExt cx="8382000" cy="3048000"/>
          </a:xfrm>
        </p:grpSpPr>
        <p:sp>
          <p:nvSpPr>
            <p:cNvPr id="337" name="Google Shape;337;p26"/>
            <p:cNvSpPr/>
            <p:nvPr/>
          </p:nvSpPr>
          <p:spPr>
            <a:xfrm>
              <a:off x="381000" y="2476500"/>
              <a:ext cx="8382000" cy="3048000"/>
            </a:xfrm>
            <a:prstGeom prst="roundRect">
              <a:avLst>
                <a:gd fmla="val 625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 txBox="1"/>
            <p:nvPr/>
          </p:nvSpPr>
          <p:spPr>
            <a:xfrm>
              <a:off x="762000" y="2857500"/>
              <a:ext cx="7620000" cy="2286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s-MX" sz="55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UDEM</a:t>
              </a:r>
              <a:endParaRPr i="1" sz="55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MX" sz="17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Licenciatura en Negocios Globales</a:t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12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94A3B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/>
          <p:nvPr/>
        </p:nvSpPr>
        <p:spPr>
          <a:xfrm>
            <a:off x="-25560" y="0"/>
            <a:ext cx="2154900" cy="6857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2325960" y="417240"/>
            <a:ext cx="4798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4472C4"/>
                </a:solidFill>
                <a:latin typeface="Avenir"/>
                <a:ea typeface="Avenir"/>
                <a:cs typeface="Avenir"/>
                <a:sym typeface="Avenir"/>
              </a:rPr>
              <a:t>Licenciatura en Negocios Globales</a:t>
            </a:r>
            <a:endParaRPr b="0" i="0" sz="1700" u="none" cap="none" strike="noStrike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-26640" y="2320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Datos Clave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-46440" y="1480680"/>
            <a:ext cx="2118600" cy="58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Match &amp; Justificación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2343960" y="2343600"/>
            <a:ext cx="61934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UDEM | Licenciatura | Presencial | Monterrey | 4 años 6 meses | Inversión pendiente de validar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2304720" y="1493280"/>
            <a:ext cx="6193440" cy="89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87/100 — Mejor alternativa UDEM. Combina visión estratégica, innovación, tecnología, inteligencia de negocios, análisis de información y gestión del cambio.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-26640" y="290592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Riesgos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" name="Google Shape;350;p27"/>
          <p:cNvGraphicFramePr/>
          <p:nvPr/>
        </p:nvGraphicFramePr>
        <p:xfrm>
          <a:off x="2402640" y="502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211475"/>
                <a:gridCol w="3884050"/>
              </a:tblGrid>
              <a:tr h="246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 hMerge="1"/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Institución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Enfoque más internacional / comercial que tecnológico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Tipo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 profundidad en datos, IA y transformación digital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MX" sz="1200" u="sng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Confirmar costos, becas y fechas de admisiónle</a:t>
                      </a:r>
                      <a:r>
                        <a:rPr b="0" lang="es-MX" sz="12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1" name="Google Shape;351;p27"/>
          <p:cNvGraphicFramePr/>
          <p:nvPr/>
        </p:nvGraphicFramePr>
        <p:xfrm>
          <a:off x="2978880" y="3075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2331150"/>
                <a:gridCol w="2331150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Criterio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Resultado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Puntaje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87/100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Liga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udem.edu.mx » Lic. en Negocios Globales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Inversión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s-MX" sz="14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Pendiente de validar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2" name="Google Shape;352;p27"/>
          <p:cNvGrpSpPr/>
          <p:nvPr/>
        </p:nvGrpSpPr>
        <p:grpSpPr>
          <a:xfrm rot="-5400000">
            <a:off x="-2442738" y="4572085"/>
            <a:ext cx="9144480" cy="300"/>
            <a:chOff x="0" y="5349960"/>
            <a:chExt cx="9144480" cy="300"/>
          </a:xfrm>
        </p:grpSpPr>
        <p:cxnSp>
          <p:nvCxnSpPr>
            <p:cNvPr id="353" name="Google Shape;353;p27"/>
            <p:cNvCxnSpPr/>
            <p:nvPr/>
          </p:nvCxnSpPr>
          <p:spPr>
            <a:xfrm>
              <a:off x="0" y="5349960"/>
              <a:ext cx="3762000" cy="30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27"/>
            <p:cNvCxnSpPr/>
            <p:nvPr/>
          </p:nvCxnSpPr>
          <p:spPr>
            <a:xfrm>
              <a:off x="8306280" y="5349960"/>
              <a:ext cx="838200" cy="30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27"/>
            <p:cNvCxnSpPr/>
            <p:nvPr/>
          </p:nvCxnSpPr>
          <p:spPr>
            <a:xfrm>
              <a:off x="7576920" y="5349960"/>
              <a:ext cx="764700" cy="30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27"/>
            <p:cNvCxnSpPr/>
            <p:nvPr/>
          </p:nvCxnSpPr>
          <p:spPr>
            <a:xfrm>
              <a:off x="6046200" y="5349960"/>
              <a:ext cx="1531200" cy="30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27"/>
            <p:cNvCxnSpPr/>
            <p:nvPr/>
          </p:nvCxnSpPr>
          <p:spPr>
            <a:xfrm>
              <a:off x="3761640" y="5349960"/>
              <a:ext cx="2284800" cy="30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358" name="Google Shape;358;p27"/>
          <p:cNvPicPr preferRelativeResize="0"/>
          <p:nvPr/>
        </p:nvPicPr>
        <p:blipFill rotWithShape="1">
          <a:blip r:embed="rId4">
            <a:alphaModFix/>
          </a:blip>
          <a:srcRect b="359" l="20" r="30" t="0"/>
          <a:stretch/>
        </p:blipFill>
        <p:spPr>
          <a:xfrm>
            <a:off x="6632400" y="351375"/>
            <a:ext cx="1905000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/>
          <p:nvPr/>
        </p:nvSpPr>
        <p:spPr>
          <a:xfrm>
            <a:off x="-25560" y="0"/>
            <a:ext cx="2154960" cy="6857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2180510" y="417240"/>
            <a:ext cx="479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TABLA COMPARATIVA — 5 OPCIONES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10800" y="1177560"/>
            <a:ext cx="21186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MX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Ranking por puntaje de match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p28"/>
          <p:cNvGraphicFramePr/>
          <p:nvPr/>
        </p:nvGraphicFramePr>
        <p:xfrm>
          <a:off x="2223970" y="1254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{30C6DBC2-8DA3-431C-85CE-F65BD0D06F39}</a:tableStyleId>
              </a:tblPr>
              <a:tblGrid>
                <a:gridCol w="464750"/>
                <a:gridCol w="991200"/>
                <a:gridCol w="781600"/>
                <a:gridCol w="1182425"/>
                <a:gridCol w="958675"/>
                <a:gridCol w="1003100"/>
                <a:gridCol w="1328975"/>
              </a:tblGrid>
              <a:tr h="4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Rank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Institución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Calificación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Tipo-Ubicación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Modalidad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Costo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Riesgo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7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#1 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Inteligencia de Negocios 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97/100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Lic. / Tec de Monterrey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Presencial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Por validar 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 campus y plan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#2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Estrategia y Transf. de Negocios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94/100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Lic. / Tec de Monterrey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Presencial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Por validar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Validar versión oficial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7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#3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Admón. y Estrategia de Negocios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92/100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Lic. / Tec de Monterrey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Presencial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Por validar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Menor profundidad datos/IA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#4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Ing. en Innovación y Desarrollo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90/100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Ing. / Tec de Monterrey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Presencial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Por validar 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Puede ser más técnica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#5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Lic. en Negocios Globales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87/100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Lic. / UDEM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Presencial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Por validar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Enfoque comercial/internacional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67" name="Google Shape;367;p28"/>
          <p:cNvPicPr preferRelativeResize="0"/>
          <p:nvPr/>
        </p:nvPicPr>
        <p:blipFill rotWithShape="1">
          <a:blip r:embed="rId3">
            <a:alphaModFix/>
          </a:blip>
          <a:srcRect b="319" l="0" r="0" t="10"/>
          <a:stretch/>
        </p:blipFill>
        <p:spPr>
          <a:xfrm>
            <a:off x="7029700" y="289478"/>
            <a:ext cx="1905000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/>
          <p:nvPr/>
        </p:nvSpPr>
        <p:spPr>
          <a:xfrm>
            <a:off x="0" y="0"/>
            <a:ext cx="9143640" cy="53499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59595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p29"/>
          <p:cNvGrpSpPr/>
          <p:nvPr/>
        </p:nvGrpSpPr>
        <p:grpSpPr>
          <a:xfrm>
            <a:off x="0" y="5349960"/>
            <a:ext cx="9144360" cy="360"/>
            <a:chOff x="0" y="5349960"/>
            <a:chExt cx="9144360" cy="360"/>
          </a:xfrm>
        </p:grpSpPr>
        <p:cxnSp>
          <p:nvCxnSpPr>
            <p:cNvPr id="374" name="Google Shape;374;p29"/>
            <p:cNvCxnSpPr/>
            <p:nvPr/>
          </p:nvCxnSpPr>
          <p:spPr>
            <a:xfrm>
              <a:off x="0" y="5349960"/>
              <a:ext cx="3762000" cy="360"/>
            </a:xfrm>
            <a:prstGeom prst="straightConnector1">
              <a:avLst/>
            </a:prstGeom>
            <a:noFill/>
            <a:ln cap="flat" cmpd="sng" w="28575">
              <a:solidFill>
                <a:srgbClr val="F0D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29"/>
            <p:cNvCxnSpPr/>
            <p:nvPr/>
          </p:nvCxnSpPr>
          <p:spPr>
            <a:xfrm>
              <a:off x="8306280" y="5349960"/>
              <a:ext cx="838080" cy="360"/>
            </a:xfrm>
            <a:prstGeom prst="straightConnector1">
              <a:avLst/>
            </a:prstGeom>
            <a:noFill/>
            <a:ln cap="flat" cmpd="sng" w="28575">
              <a:solidFill>
                <a:srgbClr val="C60A7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29"/>
            <p:cNvCxnSpPr/>
            <p:nvPr/>
          </p:nvCxnSpPr>
          <p:spPr>
            <a:xfrm>
              <a:off x="7576920" y="5349960"/>
              <a:ext cx="764640" cy="360"/>
            </a:xfrm>
            <a:prstGeom prst="straightConnector1">
              <a:avLst/>
            </a:prstGeom>
            <a:noFill/>
            <a:ln cap="flat" cmpd="sng" w="28575">
              <a:solidFill>
                <a:srgbClr val="312C7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>
              <a:off x="6046200" y="5349960"/>
              <a:ext cx="1531080" cy="360"/>
            </a:xfrm>
            <a:prstGeom prst="straightConnector1">
              <a:avLst/>
            </a:prstGeom>
            <a:noFill/>
            <a:ln cap="flat" cmpd="sng" w="28575">
              <a:solidFill>
                <a:srgbClr val="4C86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>
              <a:off x="3761640" y="5349960"/>
              <a:ext cx="2284920" cy="360"/>
            </a:xfrm>
            <a:prstGeom prst="straightConnector1">
              <a:avLst/>
            </a:prstGeom>
            <a:noFill/>
            <a:ln cap="flat" cmpd="sng" w="28575">
              <a:solidFill>
                <a:srgbClr val="3784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269640" y="1220040"/>
            <a:ext cx="8604720" cy="35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t/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NEOMA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IMPULSA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-MX" sz="5400" u="none" cap="none" strike="noStrike">
                <a:solidFill>
                  <a:srgbClr val="D0B400"/>
                </a:solidFill>
                <a:latin typeface="Avenir"/>
                <a:ea typeface="Avenir"/>
                <a:cs typeface="Avenir"/>
                <a:sym typeface="Avenir"/>
              </a:rPr>
              <a:t>17 de junio de 2026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240" y="332640"/>
            <a:ext cx="2187360" cy="60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9"/>
          <p:cNvPicPr preferRelativeResize="0"/>
          <p:nvPr/>
        </p:nvPicPr>
        <p:blipFill rotWithShape="1">
          <a:blip r:embed="rId4">
            <a:alphaModFix/>
          </a:blip>
          <a:srcRect b="1747" l="0" r="0" t="1747"/>
          <a:stretch/>
        </p:blipFill>
        <p:spPr>
          <a:xfrm>
            <a:off x="571500" y="6105008"/>
            <a:ext cx="3268300" cy="1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